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02" r:id="rId3"/>
    <p:sldId id="303" r:id="rId4"/>
    <p:sldId id="291" r:id="rId5"/>
    <p:sldId id="298" r:id="rId6"/>
    <p:sldId id="301" r:id="rId7"/>
    <p:sldId id="279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569" autoAdjust="0"/>
  </p:normalViewPr>
  <p:slideViewPr>
    <p:cSldViewPr snapToGrid="0" snapToObjects="1">
      <p:cViewPr varScale="1">
        <p:scale>
          <a:sx n="77" d="100"/>
          <a:sy n="77" d="100"/>
        </p:scale>
        <p:origin x="7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7E342-3A34-4D3E-9FC7-936D562D91A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E5605-4A51-4653-A15B-156A6C324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95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SPEAKER NOTES - The Problem:</a:t>
            </a:r>
          </a:p>
          <a:p>
            <a:r>
              <a:rPr dirty="0"/>
              <a:t>- Typical mid-size insurer: 10,000 claims/month, 15 adjusters</a:t>
            </a:r>
          </a:p>
          <a:p>
            <a:r>
              <a:rPr dirty="0"/>
              <a:t>- Each adjuster handles 650+ claims/year</a:t>
            </a:r>
          </a:p>
          <a:p>
            <a:r>
              <a:rPr dirty="0"/>
              <a:t>- Manual triage: adjuster reads 22-field form, decides complexity, picks queue</a:t>
            </a:r>
          </a:p>
          <a:p>
            <a:r>
              <a:rPr dirty="0"/>
              <a:t>- Manual assignment: manager checks workload, assigns to available adjuster</a:t>
            </a:r>
          </a:p>
          <a:p>
            <a:r>
              <a:rPr dirty="0"/>
              <a:t>- Combined waste: 25 min/claim x 10K claims x $60/</a:t>
            </a:r>
            <a:r>
              <a:rPr dirty="0" err="1"/>
              <a:t>hr</a:t>
            </a:r>
            <a:r>
              <a:rPr dirty="0"/>
              <a:t> x 12 months = $3M/year</a:t>
            </a:r>
          </a:p>
          <a:p>
            <a:r>
              <a:rPr dirty="0"/>
              <a:t>- 60% of claims are simple collisions under $10K - perfect for automation</a:t>
            </a:r>
          </a:p>
          <a:p>
            <a:r>
              <a:rPr dirty="0"/>
              <a:t>- Two value props: efficiency (same volume, fewer adjusters) or growth (more volume, same team)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Why This Problem:</a:t>
            </a:r>
          </a:p>
          <a:p>
            <a:r>
              <a:t>- Personal experience with insurance claims frustration</a:t>
            </a:r>
          </a:p>
          <a:p>
            <a:r>
              <a:t>- Scoped to collision claims under $10K with no injuries</a:t>
            </a:r>
          </a:p>
          <a:p>
            <a:r>
              <a:t>- That's 60% of claim volume, lowest regulatory risk, fastest ROI</a:t>
            </a:r>
          </a:p>
          <a:p>
            <a:r>
              <a:t>- Deterministic AI = no LLMs, no hallucination risk, every decision cites exact fields</a:t>
            </a:r>
          </a:p>
          <a:p>
            <a:r>
              <a:t>- Triage criteria are rule-based: damage amount, fault, police report, prior claims, fraud signals</a:t>
            </a:r>
          </a:p>
          <a:p>
            <a:r>
              <a:t>- 4 fraud signals: airbags deployed but drivable, high mileage + high damage, no police report on high value, excessive prior claims</a:t>
            </a:r>
          </a:p>
          <a:p>
            <a:r>
              <a:t>- ClaimFlow is decision SUPPORT - adjusters retain full authority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dirty="0"/>
              <a:t>TALK TRACK</a:t>
            </a:r>
          </a:p>
          <a:p>
            <a:endParaRPr lang="en-US" sz="1200" dirty="0"/>
          </a:p>
          <a:p>
            <a:r>
              <a:rPr lang="en-US" sz="1200" b="1" dirty="0"/>
              <a:t>[Step 1 — Claim Submitted]</a:t>
            </a:r>
          </a:p>
          <a:p>
            <a:r>
              <a:rPr lang="en-US" sz="1200" dirty="0"/>
              <a:t>Process starts the same as today. Policyholder fills out the 22-field intake form — vehicle details, damage, fault, police report, prior claims. About 15 minutes. We don’t touch this step.</a:t>
            </a:r>
          </a:p>
          <a:p>
            <a:endParaRPr lang="en-US" sz="1200" dirty="0"/>
          </a:p>
          <a:p>
            <a:r>
              <a:rPr lang="en-US" sz="1200" b="1" dirty="0"/>
              <a:t>[Step 2 — AI Routing &amp; Assignment → saves 15 min]</a:t>
            </a:r>
          </a:p>
          <a:p>
            <a:r>
              <a:rPr lang="en-US" sz="1200" dirty="0"/>
              <a:t>This is the first thing ClaimFlow automates. Today an adjuster manually reads all 22 fields and decides whether it goes to Fast-Track, Standard, or Senior queue — that’s 10 minutes. Then a manager checks a workload spreadsheet and assigns it — another 5 minutes. 15 minutes of pure manual triage on every single claim.</a:t>
            </a:r>
          </a:p>
          <a:p>
            <a:endParaRPr lang="en-US" sz="1200" dirty="0"/>
          </a:p>
          <a:p>
            <a:r>
              <a:rPr lang="en-US" sz="1200" dirty="0"/>
              <a:t>ClaimFlow reads every field in about 2 seconds, applies the triage rubric, routes to the correct queue, and auto-assigns to the least-busy adjuster. 15 minutes down to 10 seconds.</a:t>
            </a:r>
          </a:p>
          <a:p>
            <a:endParaRPr lang="en-US" sz="1200" dirty="0"/>
          </a:p>
          <a:p>
            <a:r>
              <a:rPr lang="en-US" sz="1200" b="1" dirty="0"/>
              <a:t>[Step 3 — Workflow Enhancement → saves 10 min]</a:t>
            </a:r>
          </a:p>
          <a:p>
            <a:r>
              <a:rPr lang="en-US" sz="1200" dirty="0"/>
              <a:t>Second piece we automate. When an adjuster opens a claim today they spend 5 min re-reading the intake form, 3 min looking up prior claims in a separate system, and 2 min manually checking for fraud patterns — airbag deployment, high mileage, missing police reports. That’s 10 minutes before they even start thinking about the decision.</a:t>
            </a:r>
          </a:p>
          <a:p>
            <a:endParaRPr lang="en-US" sz="1200" dirty="0"/>
          </a:p>
          <a:p>
            <a:r>
              <a:rPr lang="en-US" sz="1200" dirty="0"/>
              <a:t>With ClaimFlow all of that is pre-populated instantly in the claim modal — AI recommendation, damage estimate, fault assessment, police report status, prior claims count, fraud signals flagged. Adjuster opens it and everything they need is already there.</a:t>
            </a:r>
          </a:p>
          <a:p>
            <a:endParaRPr lang="en-US" sz="1200" dirty="0"/>
          </a:p>
          <a:p>
            <a:r>
              <a:rPr lang="en-US" sz="1200" b="1" dirty="0"/>
              <a:t>[Step 4 — Adjuster Decides]</a:t>
            </a:r>
          </a:p>
          <a:p>
            <a:r>
              <a:rPr lang="en-US" sz="1200" dirty="0"/>
              <a:t>Human always makes the final call — approve, deny, or escalate. We surface the reasoning and the data, the adjuster decides. Every action logged with an audit trail. AI triages and recommends, humans decide.</a:t>
            </a:r>
          </a:p>
          <a:p>
            <a:endParaRPr lang="en-US" sz="1200" dirty="0"/>
          </a:p>
          <a:p>
            <a:r>
              <a:rPr lang="en-US" sz="1200" b="1" dirty="0"/>
              <a:t>[Footer — land the math]</a:t>
            </a:r>
          </a:p>
          <a:p>
            <a:r>
              <a:rPr lang="en-US" sz="1200" dirty="0"/>
              <a:t>25 minutes saved per claim — 15 from routing, 10 from workflow. 10,000 claims a month times $60/hour fully loaded adjuster cost, that’s $250K a month, $3 million a year. And this is just routing and workflow — the $12M roadmap adds document review, communications, and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Target Market:</a:t>
            </a:r>
          </a:p>
          <a:p>
            <a:r>
              <a:t>- Mid-size auto insurers processing 10K-50K claims/month</a:t>
            </a:r>
          </a:p>
          <a:p>
            <a:r>
              <a:t>- Focus on collision claims under $10K with no injuries - 60% of total claim volume</a:t>
            </a:r>
          </a:p>
          <a:p>
            <a:r>
              <a:t>- Lowest regulatory risk, fastest path to proving AI value</a:t>
            </a:r>
          </a:p>
          <a:p>
            <a:r>
              <a:t>- Tenex sweet spot: $50M-$500M revenue companies needing operational transformation</a:t>
            </a:r>
          </a:p>
          <a:p>
            <a:r>
              <a:t>- Junior Adjusters handle Fast-Track queue (simple, &lt;$5K, clear fault)</a:t>
            </a:r>
          </a:p>
          <a:p>
            <a:r>
              <a:t>- Standard Adjusters handle moderate complexity ($5K-$15K, mixed fault)</a:t>
            </a:r>
          </a:p>
          <a:p>
            <a:r>
              <a:t>- Senior Adjusters/SIU handle high-value claims and fraud investigations</a:t>
            </a:r>
          </a:p>
          <a:p>
            <a:r>
              <a:t>- Admin sees Operations Center with ROI metrics, triage criteria reference, all queues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ROI Current State:</a:t>
            </a:r>
          </a:p>
          <a:p>
            <a:r>
              <a:t>- 25 minutes saved = 15 min (routing &amp; queue assignment) + 10 min (workflow enhancement, pre-populated data)</a:t>
            </a:r>
          </a:p>
          <a:p>
            <a:r>
              <a:t>- $60/hour is fully loaded adjuster cost including benefits</a:t>
            </a:r>
          </a:p>
          <a:p>
            <a:r>
              <a:t>- 10,000 claims/month is a mid-size insurer baseline</a:t>
            </a:r>
          </a:p>
          <a:p>
            <a:r>
              <a:t>- Two ways to capture value:</a:t>
            </a:r>
          </a:p>
          <a:p>
            <a:r>
              <a:t>  1. Efficiency: Handle same claim volume with 20% fewer adjusters</a:t>
            </a:r>
          </a:p>
          <a:p>
            <a:r>
              <a:t>  2. Growth: Scale from 10K to 15K claims/month without hiring</a:t>
            </a:r>
          </a:p>
          <a:p>
            <a:r>
              <a:t>- ROI does NOT include: fraud prevention savings, reduced reassignment costs, faster customer payouts, improved satisfaction</a:t>
            </a:r>
          </a:p>
          <a:p>
            <a:r>
              <a:t>- 30-day pilot approach: run ClaimFlow in parallel with existing process, compare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ROI Future State:</a:t>
            </a:r>
          </a:p>
          <a:p>
            <a:r>
              <a:t>- Conservative estimate: 1.67 hours (100 min) saved, not the full 2 hours</a:t>
            </a:r>
          </a:p>
          <a:p>
            <a:r>
              <a:t>- Accounts for complexity variance and edge cases requiring manual review</a:t>
            </a:r>
          </a:p>
          <a:p>
            <a:r>
              <a:t>- Document Review: OCR for police reports, repair estimates, photos</a:t>
            </a:r>
          </a:p>
          <a:p>
            <a:r>
              <a:t>- Communication Automation: auto-generated status updates, adjuster handoff notes</a:t>
            </a:r>
          </a:p>
          <a:p>
            <a:r>
              <a:t>- Investigation Assistance: AI surfaces relevant prior claims, similar cases, pattern detection</a:t>
            </a:r>
          </a:p>
          <a:p>
            <a:r>
              <a:t>- Integration path: start with 30-day parallel pilot, measure AI accuracy vs human decisions</a:t>
            </a:r>
          </a:p>
          <a:p>
            <a:r>
              <a:t>- If AI matches human accuracy at 95%+, expand scope incrementally</a:t>
            </a:r>
          </a:p>
          <a:p>
            <a:r>
              <a:t>- $12M does NOT include reduced fraud losses or improved customer retention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Strategic Trade-Offs:</a:t>
            </a:r>
          </a:p>
          <a:p>
            <a:r>
              <a:t>What I built in &lt; 24 hours:</a:t>
            </a:r>
          </a:p>
          <a:p>
            <a:r>
              <a:t>- Deterministic AI: rule-based, cites exact fields, zero hallucination risk, regulatory compliant</a:t>
            </a:r>
          </a:p>
          <a:p>
            <a:r>
              <a:t>- 7 user profiles: Admin, Junior 1&amp;2, Standard 1&amp;2, Senior 1&amp;2 - each with tailored UX</a:t>
            </a:r>
          </a:p>
          <a:p>
            <a:r>
              <a:t>- Fraud detection: airbags+drivable inconsistency, high mileage+high damage, no police report on high value, excessive claims history</a:t>
            </a:r>
          </a:p>
          <a:p>
            <a:r>
              <a:t>- Full audit trail: every status change logged with who/when/what</a:t>
            </a:r>
          </a:p>
          <a:p>
            <a:r>
              <a:t>- Batch processing: upload 100+ claims via CSV with sample template</a:t>
            </a:r>
          </a:p>
          <a:p>
            <a:r>
              <a:t>- SQLite for speed - swappable to Postgres in 2 hours</a:t>
            </a:r>
          </a:p>
          <a:p>
            <a:endParaRPr/>
          </a:p>
          <a:p>
            <a:r>
              <a:t>What I intentionally didn't build:</a:t>
            </a:r>
          </a:p>
          <a:p>
            <a:r>
              <a:t>- Authentication (Auth0 = 1 day, spent it on fraud detection instead)</a:t>
            </a:r>
          </a:p>
          <a:p>
            <a:r>
              <a:t>- Production database (SQLite proves it works, Postgres doesn't change the value prop)</a:t>
            </a:r>
          </a:p>
          <a:p>
            <a:r>
              <a:t>- Live deployment (localhost demo proves functionality, cloud doesn't change ROI)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63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Arial"/>
              </a:defRPr>
            </a:pPr>
            <a:r>
              <a:t>ClaimFlow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9685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0D9488"/>
                </a:solidFill>
                <a:latin typeface="Arial"/>
              </a:defRPr>
            </a:pPr>
            <a:r>
              <a:t>AI-Powered Insurance Claims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641600"/>
            <a:ext cx="36576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31115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Michael Gardner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32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E2E8F0"/>
                </a:solidFill>
                <a:latin typeface="Arial"/>
              </a:defRPr>
            </a:pPr>
            <a:r>
              <a:t>Tenex AI Strategist — Build First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89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E2E8F0"/>
                </a:solidFill>
                <a:latin typeface="Arial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4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3A5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38200"/>
            <a:ext cx="8229600" cy="4572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defRPr sz="1800" b="0" i="0">
                <a:solidFill>
                  <a:srgbClr val="64748B"/>
                </a:solidFill>
                <a:latin typeface="Arial"/>
              </a:defRPr>
            </a:pPr>
            <a:r>
              <a:rPr lang="en-US" sz="1800" dirty="0">
                <a:solidFill>
                  <a:srgbClr val="64748B"/>
                </a:solidFill>
                <a:latin typeface="Arial"/>
              </a:rPr>
              <a:t>Before investigation begins, adjusters spend 25 minutes per claim on manual triage and assignment.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97000"/>
            <a:ext cx="256032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47800"/>
            <a:ext cx="2011680" cy="635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 b="1" i="0">
                <a:solidFill>
                  <a:srgbClr val="F59E0B"/>
                </a:solidFill>
                <a:latin typeface="Arial"/>
              </a:defRPr>
            </a:pPr>
            <a:r>
              <a:rPr lang="en-US" sz="3600" b="1" dirty="0">
                <a:solidFill>
                  <a:srgbClr val="F59E0B"/>
                </a:solidFill>
                <a:latin typeface="Arial"/>
              </a:rPr>
              <a:t>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3600"/>
            <a:ext cx="2011680" cy="66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rPr lang="en-US" sz="1500" dirty="0">
                <a:solidFill>
                  <a:srgbClr val="64748B"/>
                </a:solidFill>
                <a:latin typeface="Arial"/>
              </a:rPr>
              <a:t>spent per claim on</a:t>
            </a:r>
            <a:br/>
            <a:r>
              <a:rPr lang="en-US" sz="1500" dirty="0">
                <a:solidFill>
                  <a:srgbClr val="64748B"/>
                </a:solidFill>
                <a:latin typeface="Arial"/>
              </a:rPr>
              <a:t>manual triage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97000"/>
            <a:ext cx="256032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447800"/>
            <a:ext cx="201168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C2626"/>
                </a:solidFill>
                <a:latin typeface="Arial"/>
              </a:defRPr>
            </a:pPr>
            <a:r>
              <a:t>$3M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33600"/>
            <a:ext cx="20116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t>annual cost at</a:t>
            </a:r>
            <a:br/>
            <a:r>
              <a:t>10K claims/month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97000"/>
            <a:ext cx="2560320" cy="142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47800"/>
            <a:ext cx="2011680" cy="635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 b="1" i="0">
                <a:solidFill>
                  <a:srgbClr val="0D9488"/>
                </a:solidFill>
                <a:latin typeface="Arial"/>
              </a:defRPr>
            </a:pPr>
            <a:r>
              <a:rPr lang="en-US" sz="3600" b="1" dirty="0">
                <a:solidFill>
                  <a:srgbClr val="0D9488"/>
                </a:solidFill>
                <a:latin typeface="Arial"/>
              </a:rPr>
              <a:t>15 + 10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33600"/>
            <a:ext cx="2011680" cy="6604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>
              <a:defRPr sz="1500" b="0" i="0">
                <a:solidFill>
                  <a:srgbClr val="64748B"/>
                </a:solidFill>
                <a:latin typeface="Arial"/>
              </a:defRPr>
            </a:pPr>
            <a:r>
              <a:rPr lang="en-US" sz="1500" dirty="0">
                <a:solidFill>
                  <a:srgbClr val="64748B"/>
                </a:solidFill>
                <a:latin typeface="Arial"/>
              </a:rPr>
              <a:t>min routing + workflow</a:t>
            </a:r>
            <a:br/>
            <a:r>
              <a:rPr lang="en-US" sz="1500" dirty="0">
                <a:solidFill>
                  <a:srgbClr val="64748B"/>
                </a:solidFill>
                <a:latin typeface="Arial"/>
              </a:rPr>
              <a:t>per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1000"/>
            <a:ext cx="82296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rPr lang="en-US" sz="1800" b="1" dirty="0">
                <a:solidFill>
                  <a:srgbClr val="1E3A5F"/>
                </a:solidFill>
                <a:latin typeface="Arial"/>
              </a:rPr>
              <a:t>Current Workflow: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76600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32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F172A"/>
                </a:solidFill>
                <a:latin typeface="Arial"/>
              </a:defRPr>
            </a:pPr>
            <a:r>
              <a:t>1. Claim Submitted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0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225800"/>
            <a:ext cx="2651760" cy="6096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3251200"/>
            <a:ext cx="2468880" cy="279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1" i="0">
                <a:solidFill>
                  <a:srgbClr val="DC2626"/>
                </a:solidFill>
                <a:latin typeface="Arial"/>
              </a:defRPr>
            </a:pPr>
            <a:r>
              <a:rPr lang="en-US" sz="1300" b="1" dirty="0">
                <a:solidFill>
                  <a:srgbClr val="DC2626"/>
                </a:solidFill>
                <a:latin typeface="Arial"/>
              </a:rPr>
              <a:t>2. Manual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556000"/>
            <a:ext cx="24688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 i="0">
                <a:solidFill>
                  <a:srgbClr val="DC2626"/>
                </a:solidFill>
                <a:latin typeface="Arial"/>
              </a:defRPr>
            </a:pPr>
            <a:r>
              <a:rPr lang="en-US" sz="1200" dirty="0">
                <a:solidFill>
                  <a:srgbClr val="DC2626"/>
                </a:solidFill>
                <a:latin typeface="Arial"/>
              </a:rPr>
              <a:t>25 min of manual effort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40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27660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32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F172A"/>
                </a:solidFill>
                <a:latin typeface="Arial"/>
              </a:defRPr>
            </a:pPr>
            <a:r>
              <a:t>3. Investigation &amp;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8600"/>
            <a:ext cx="8229600" cy="4572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076700"/>
            <a:ext cx="7863840" cy="32316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 i="1">
                <a:solidFill>
                  <a:srgbClr val="0F172A"/>
                </a:solidFill>
                <a:latin typeface="Arial"/>
              </a:defRPr>
            </a:pPr>
            <a:r>
              <a:rPr lang="en-US" sz="1500" i="1" dirty="0">
                <a:solidFill>
                  <a:srgbClr val="0F172A"/>
                </a:solidFill>
                <a:latin typeface="Arial"/>
              </a:rPr>
              <a:t>ClaimFlow automates routing, assignment &amp; workflow</a:t>
            </a:r>
          </a:p>
        </p:txBody>
      </p:sp>
    </p:spTree>
    <p:extLst>
      <p:ext uri="{BB962C8B-B14F-4D97-AF65-F5344CB8AC3E}">
        <p14:creationId xmlns:p14="http://schemas.microsoft.com/office/powerpoint/2010/main" val="290408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3A5F"/>
                </a:solidFill>
                <a:latin typeface="Arial"/>
              </a:defRPr>
            </a:pPr>
            <a:r>
              <a:t>Why I Chose This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02251"/>
            <a:ext cx="82296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40351"/>
            <a:ext cx="786384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t>I got in a fender bender a couple years ago — the insurance process was a mess. I wanted to fix the low-hanging fruit that AI can solve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64251"/>
            <a:ext cx="256032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1505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150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t>Specific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70651"/>
            <a:ext cx="1828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rPr lang="en-US" sz="1300" dirty="0">
                <a:solidFill>
                  <a:srgbClr val="64748B"/>
                </a:solidFill>
                <a:latin typeface="Arial"/>
              </a:rPr>
              <a:t>Two workflow steps, measurable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64251"/>
            <a:ext cx="256032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71505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150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t>Solvable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70651"/>
            <a:ext cx="1828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Deterministic logic, no hallucination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64251"/>
            <a:ext cx="256032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71505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7150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t>Scalable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70651"/>
            <a:ext cx="1828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$3M → $12M ROI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8025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A5F"/>
                </a:solidFill>
                <a:latin typeface="Arial"/>
              </a:defRPr>
            </a:pPr>
            <a:r>
              <a:t>How ClaimFlow Routes Claims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86651"/>
            <a:ext cx="1645920" cy="355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112051"/>
            <a:ext cx="1554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Fast-Track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112051"/>
            <a:ext cx="6400800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rPr lang="en-US" sz="1300" dirty="0">
                <a:solidFill>
                  <a:srgbClr val="0F172A"/>
                </a:solidFill>
                <a:latin typeface="Arial"/>
              </a:rPr>
              <a:t>&lt;$5K, other party fault, police report → </a:t>
            </a:r>
            <a:r>
              <a:rPr lang="en-US" sz="1300" b="1" dirty="0">
                <a:solidFill>
                  <a:srgbClr val="0D9488"/>
                </a:solidFill>
                <a:latin typeface="Arial"/>
              </a:rPr>
              <a:t>Junior Adjuster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9251"/>
            <a:ext cx="1645920" cy="355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594651"/>
            <a:ext cx="1554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Standard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594651"/>
            <a:ext cx="6400800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rPr lang="en-US" sz="1300" dirty="0">
                <a:solidFill>
                  <a:srgbClr val="0F172A"/>
                </a:solidFill>
                <a:latin typeface="Arial"/>
              </a:rPr>
              <a:t>$5K–$15K, policyholder fault, no police report → </a:t>
            </a:r>
            <a:r>
              <a:rPr lang="en-US" sz="1300" b="1" dirty="0">
                <a:solidFill>
                  <a:srgbClr val="F59E0B"/>
                </a:solidFill>
                <a:latin typeface="Arial"/>
              </a:rPr>
              <a:t>Senior Adjuster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51851"/>
            <a:ext cx="1645920" cy="355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077251"/>
            <a:ext cx="1554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Senior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77251"/>
            <a:ext cx="6400800" cy="30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rPr lang="en-US" sz="1300" dirty="0">
                <a:solidFill>
                  <a:srgbClr val="0F172A"/>
                </a:solidFill>
                <a:latin typeface="Arial"/>
              </a:rPr>
              <a:t>&gt;$15K, fraud signals, or &gt;3 prior claims → </a:t>
            </a:r>
            <a:r>
              <a:rPr lang="en-US" sz="1300" b="1" dirty="0">
                <a:solidFill>
                  <a:srgbClr val="DC2626"/>
                </a:solidFill>
                <a:latin typeface="Arial"/>
              </a:rPr>
              <a:t>Claims Manager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85251"/>
            <a:ext cx="8229600" cy="406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623351"/>
            <a:ext cx="78638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AI triages and recommends. Humans decide.</a:t>
            </a:r>
          </a:p>
        </p:txBody>
      </p:sp>
    </p:spTree>
    <p:extLst>
      <p:ext uri="{BB962C8B-B14F-4D97-AF65-F5344CB8AC3E}">
        <p14:creationId xmlns:p14="http://schemas.microsoft.com/office/powerpoint/2010/main" val="111661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7800"/>
            <a:ext cx="8229600" cy="584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 i="0">
                <a:solidFill>
                  <a:srgbClr val="1E3A5F"/>
                </a:solidFill>
                <a:latin typeface="Arial"/>
              </a:defRPr>
            </a:pPr>
            <a:r>
              <a:rPr lang="en-US" sz="3600" b="1" dirty="0">
                <a:solidFill>
                  <a:srgbClr val="1E3A5F"/>
                </a:solidFill>
                <a:latin typeface="Arial"/>
              </a:rPr>
              <a:t>How ClaimFlow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7400"/>
            <a:ext cx="6731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38200"/>
            <a:ext cx="5943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rPr lang="en-US" sz="2000" b="1" dirty="0">
                <a:solidFill>
                  <a:srgbClr val="1E3A5F"/>
                </a:solidFill>
                <a:latin typeface="Arial"/>
              </a:rPr>
              <a:t>Claim Submitted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68400"/>
            <a:ext cx="594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 lang="en-US" sz="1400" dirty="0">
                <a:solidFill>
                  <a:srgbClr val="64748B"/>
                </a:solidFill>
                <a:latin typeface="Arial"/>
              </a:rPr>
              <a:t>22-field intake form captures damage, fault, police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9860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27200"/>
            <a:ext cx="1016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727200"/>
            <a:ext cx="6731000" cy="685800"/>
          </a:xfrm>
          <a:prstGeom prst="rect">
            <a:avLst/>
          </a:prstGeom>
          <a:solidFill>
            <a:srgbClr val="E6F7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78000"/>
            <a:ext cx="5943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rPr lang="en-US" sz="2000" b="1" dirty="0">
                <a:solidFill>
                  <a:srgbClr val="1E3A5F"/>
                </a:solidFill>
                <a:latin typeface="Arial"/>
              </a:rPr>
              <a:t>AI Routing &amp;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8200"/>
            <a:ext cx="594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 lang="en-US" sz="1300" dirty="0">
                <a:solidFill>
                  <a:srgbClr val="64748B"/>
                </a:solidFill>
                <a:latin typeface="Arial"/>
              </a:rPr>
              <a:t>Reads fields, picks queue, assigns adjuster by workload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39000" y="1765300"/>
            <a:ext cx="1498600" cy="482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39000" y="1778000"/>
            <a:ext cx="1498600" cy="4572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was 15 min</a:t>
            </a:r>
          </a:p>
          <a:p>
            <a:pPr algn="ctr">
              <a:lnSpc>
                <a:spcPts val="1100"/>
              </a:lnSpc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→ 10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3840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67000"/>
            <a:ext cx="1016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667000"/>
            <a:ext cx="6731000" cy="685800"/>
          </a:xfrm>
          <a:prstGeom prst="rect">
            <a:avLst/>
          </a:prstGeom>
          <a:solidFill>
            <a:srgbClr val="E6F7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717800"/>
            <a:ext cx="5943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rPr lang="en-US" sz="2000" b="1" dirty="0">
                <a:solidFill>
                  <a:srgbClr val="1E3A5F"/>
                </a:solidFill>
                <a:latin typeface="Arial"/>
              </a:rPr>
              <a:t>Workflow Enhancement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48000"/>
            <a:ext cx="594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 lang="en-US" sz="1300" dirty="0">
                <a:solidFill>
                  <a:srgbClr val="64748B"/>
                </a:solidFill>
                <a:latin typeface="Arial"/>
              </a:rPr>
              <a:t>Pre-populates AI reasoning, prior claims, fraud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39000" y="2705100"/>
            <a:ext cx="1498600" cy="482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39000" y="2717800"/>
            <a:ext cx="1498600" cy="4572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FFFFFF"/>
                </a:solidFill>
                <a:latin typeface="Arial"/>
              </a:rPr>
              <a:t>was 10 min</a:t>
            </a:r>
          </a:p>
          <a:p>
            <a:pPr algn="ctr">
              <a:lnSpc>
                <a:spcPts val="1100"/>
              </a:lnSpc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→ instant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37820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06800"/>
            <a:ext cx="6731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657600"/>
            <a:ext cx="5943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3A5F"/>
                </a:solidFill>
                <a:latin typeface="Arial"/>
              </a:defRPr>
            </a:pPr>
            <a:r>
              <a:rPr lang="en-US" sz="2000" b="1" dirty="0">
                <a:solidFill>
                  <a:srgbClr val="1E3A5F"/>
                </a:solidFill>
                <a:latin typeface="Arial"/>
              </a:rPr>
              <a:t>Adjuster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87800"/>
            <a:ext cx="5943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 lang="en-US" sz="1400" dirty="0">
                <a:solidFill>
                  <a:srgbClr val="64748B"/>
                </a:solidFill>
                <a:latin typeface="Arial"/>
              </a:rPr>
              <a:t>Approve, deny, or escalate — human always in the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70400"/>
            <a:ext cx="8229600" cy="406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3781B49-C00F-443D-8B2B-7B20937E3AA7}"/>
              </a:ext>
            </a:extLst>
          </p:cNvPr>
          <p:cNvSpPr/>
          <p:nvPr/>
        </p:nvSpPr>
        <p:spPr>
          <a:xfrm>
            <a:off x="7340600" y="889000"/>
            <a:ext cx="1320800" cy="355600"/>
          </a:xfrm>
          <a:prstGeom prst="roundRect">
            <a:avLst/>
          </a:prstGeom>
          <a:solidFill>
            <a:srgbClr val="64748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71D4907-9720-4AEA-B008-5623334FC27B}"/>
              </a:ext>
            </a:extLst>
          </p:cNvPr>
          <p:cNvSpPr/>
          <p:nvPr/>
        </p:nvSpPr>
        <p:spPr>
          <a:xfrm>
            <a:off x="7340600" y="3708400"/>
            <a:ext cx="1320800" cy="355600"/>
          </a:xfrm>
          <a:prstGeom prst="roundRect">
            <a:avLst/>
          </a:prstGeom>
          <a:solidFill>
            <a:srgbClr val="64748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40080" y="4495800"/>
            <a:ext cx="78638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FFFFFF"/>
                </a:solidFill>
                <a:latin typeface="Arial"/>
              </a:defRPr>
            </a:pPr>
            <a:r>
              <a:rPr lang="en-US" sz="1500" b="1" dirty="0">
                <a:solidFill>
                  <a:srgbClr val="FFFFFF"/>
                </a:solidFill>
                <a:latin typeface="Arial"/>
              </a:rPr>
              <a:t>25 min saved/claim × 10K claims/mo × $60/hr = $3M/year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F108D1-B050-46D2-B610-B8764A823134}"/>
              </a:ext>
            </a:extLst>
          </p:cNvPr>
          <p:cNvSpPr/>
          <p:nvPr/>
        </p:nvSpPr>
        <p:spPr>
          <a:xfrm>
            <a:off x="457200" y="787400"/>
            <a:ext cx="63500" cy="685800"/>
          </a:xfrm>
          <a:prstGeom prst="rect">
            <a:avLst/>
          </a:prstGeom>
          <a:solidFill>
            <a:srgbClr val="0D948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668449-4AAA-4BE2-A1E3-24B135AD3457}"/>
              </a:ext>
            </a:extLst>
          </p:cNvPr>
          <p:cNvSpPr/>
          <p:nvPr/>
        </p:nvSpPr>
        <p:spPr>
          <a:xfrm>
            <a:off x="457200" y="3606800"/>
            <a:ext cx="63500" cy="685800"/>
          </a:xfrm>
          <a:prstGeom prst="rect">
            <a:avLst/>
          </a:prstGeom>
          <a:solidFill>
            <a:srgbClr val="0D948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40600" y="889000"/>
            <a:ext cx="1320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rPr lang="en-US" sz="1300" b="1" dirty="0">
                <a:solidFill>
                  <a:srgbClr val="FFFFFF"/>
                </a:solidFill>
                <a:latin typeface="Arial"/>
              </a:rPr>
              <a:t>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0600" y="3708400"/>
            <a:ext cx="1320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rPr lang="en-US" sz="1300" b="1" dirty="0">
                <a:solidFill>
                  <a:srgbClr val="FFFFFF"/>
                </a:solidFill>
                <a:latin typeface="Arial"/>
              </a:rPr>
              <a:t>Human</a:t>
            </a:r>
          </a:p>
        </p:txBody>
      </p:sp>
    </p:spTree>
    <p:extLst>
      <p:ext uri="{BB962C8B-B14F-4D97-AF65-F5344CB8AC3E}">
        <p14:creationId xmlns:p14="http://schemas.microsoft.com/office/powerpoint/2010/main" val="337043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3A5F"/>
                </a:solidFill>
                <a:latin typeface="Arial"/>
              </a:defRPr>
            </a:pPr>
            <a:r>
              <a:t>Target Market &amp; User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47034"/>
            <a:ext cx="25654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8800" y="923234"/>
            <a:ext cx="2362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E3A5F"/>
                </a:solidFill>
                <a:latin typeface="Arial"/>
              </a:defRPr>
            </a:pPr>
            <a:r>
              <a:t>Mid-Size Insurers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1253434"/>
            <a:ext cx="236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10K–50K claims/month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89300" y="847034"/>
            <a:ext cx="25654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90900" y="923234"/>
            <a:ext cx="2362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E3A5F"/>
                </a:solidFill>
                <a:latin typeface="Arial"/>
              </a:defRPr>
            </a:pPr>
            <a:r>
              <a:rPr lang="en-US" sz="1700" b="1" dirty="0">
                <a:solidFill>
                  <a:srgbClr val="1E3A5F"/>
                </a:solidFill>
                <a:latin typeface="Arial"/>
              </a:rPr>
              <a:t>Low-Complexity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900" y="1253434"/>
            <a:ext cx="236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 lang="en-US" sz="1400" dirty="0">
                <a:solidFill>
                  <a:srgbClr val="64748B"/>
                </a:solidFill>
                <a:latin typeface="Arial"/>
              </a:rPr>
              <a:t>Rules-based, clear rubric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1400" y="847034"/>
            <a:ext cx="25654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23000" y="923234"/>
            <a:ext cx="2362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1E3A5F"/>
                </a:solidFill>
                <a:latin typeface="Arial"/>
              </a:defRPr>
            </a:pPr>
            <a:r>
              <a:rPr lang="en-US" sz="1500" b="1" dirty="0">
                <a:solidFill>
                  <a:srgbClr val="1E3A5F"/>
                </a:solidFill>
                <a:latin typeface="Arial"/>
              </a:rPr>
              <a:t>&lt;$100M–$800M Rev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0" y="1253434"/>
            <a:ext cx="2362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 lang="en-US" sz="1400" dirty="0">
                <a:solidFill>
                  <a:srgbClr val="64748B"/>
                </a:solidFill>
                <a:latin typeface="Arial"/>
              </a:rPr>
              <a:t>Target customer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542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A5F"/>
                </a:solidFill>
                <a:latin typeface="Arial"/>
              </a:defRPr>
            </a:pPr>
            <a:r>
              <a:t>Four User Roles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60600"/>
            <a:ext cx="1917700" cy="1524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8800" y="2413000"/>
            <a:ext cx="1714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65F46"/>
                </a:solidFill>
                <a:latin typeface="Arial"/>
              </a:defRPr>
            </a:pPr>
            <a:r>
              <a:t>Junior Adjuster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2870200"/>
            <a:ext cx="1714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Fast-Track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" y="3200400"/>
            <a:ext cx="1714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Simple claims, speed-focused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5400" y="2260600"/>
            <a:ext cx="1917700" cy="1524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7000" y="2413000"/>
            <a:ext cx="1714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92400E"/>
                </a:solidFill>
                <a:latin typeface="Arial"/>
              </a:defRPr>
            </a:pPr>
            <a:r>
              <a:t>Standard Adjuster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7000" y="2870200"/>
            <a:ext cx="1714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Standard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7000" y="3200400"/>
            <a:ext cx="1714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Moderate complexity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73600" y="2260600"/>
            <a:ext cx="1917700" cy="15240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75200" y="2413000"/>
            <a:ext cx="1714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12E81"/>
                </a:solidFill>
                <a:latin typeface="Arial"/>
              </a:defRPr>
            </a:pPr>
            <a:r>
              <a:t>Senior Adjuster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5200" y="2870200"/>
            <a:ext cx="1714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Senior Review / SIU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5200" y="3200400"/>
            <a:ext cx="1714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Fraud investigation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81800" y="2260600"/>
            <a:ext cx="1917700" cy="1524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83400" y="2413000"/>
            <a:ext cx="1714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A5F"/>
                </a:solidFill>
                <a:latin typeface="Arial"/>
              </a:defRPr>
            </a:pPr>
            <a: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3400" y="2870200"/>
            <a:ext cx="1714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Operations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3400" y="3200400"/>
            <a:ext cx="1714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Platform oversight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18000"/>
            <a:ext cx="8242300" cy="596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000" y="4356100"/>
            <a:ext cx="787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0F172A"/>
                </a:solidFill>
                <a:latin typeface="Arial"/>
              </a:defRPr>
            </a:pPr>
            <a:r>
              <a:rPr dirty="0"/>
              <a:t>Each role sees only what they need. Adjusters land on their queue. Admin sees the full platform.</a:t>
            </a:r>
          </a:p>
        </p:txBody>
      </p:sp>
    </p:spTree>
    <p:extLst>
      <p:ext uri="{BB962C8B-B14F-4D97-AF65-F5344CB8AC3E}">
        <p14:creationId xmlns:p14="http://schemas.microsoft.com/office/powerpoint/2010/main" val="428747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2296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3A5F"/>
                </a:solidFill>
                <a:latin typeface="Arial"/>
              </a:defRPr>
            </a:pPr>
            <a:r>
              <a:rPr lang="en-US" sz="3600" b="1" dirty="0">
                <a:solidFill>
                  <a:srgbClr val="1E3A5F"/>
                </a:solidFill>
                <a:latin typeface="Arial"/>
              </a:rPr>
              <a:t>ClaimFlow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3600"/>
            <a:ext cx="3840480" cy="215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90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Arial"/>
              </a:defRPr>
            </a:pPr>
            <a:r>
              <a:t>Projected Annual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6200"/>
            <a:ext cx="3474720" cy="73152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>
              <a:defRPr sz="4800" b="1" i="0">
                <a:solidFill>
                  <a:srgbClr val="10B981"/>
                </a:solidFill>
                <a:latin typeface="Arial"/>
              </a:defRPr>
            </a:pPr>
            <a:r>
              <a:t>$3,000,000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87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per year at 10K claims/month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863600"/>
            <a:ext cx="393192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990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The Math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t>10,000 claims/month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51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t>× 25 minutes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304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t>× $60/hour adjuster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2098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t>× 12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489200"/>
            <a:ext cx="32004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2590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0B981"/>
                </a:solidFill>
                <a:latin typeface="Arial"/>
              </a:defRPr>
            </a:pPr>
            <a:r>
              <a:t>= $3,000,000/year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76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What ClaimFlow Automates 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83000"/>
            <a:ext cx="822960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59200"/>
            <a:ext cx="5486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✓ AI reads 22 fields, applies triage rubric, routes to correct queue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67200"/>
            <a:ext cx="8229600" cy="457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54864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  <a:latin typeface="Arial"/>
              </a:defRPr>
            </a:pPr>
            <a:r>
              <a:t>✓ Auto-assigns to least-busy adjuster, pre-populates decision factors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CA88B2-8B05-4B50-91FA-66422E668F2B}"/>
              </a:ext>
            </a:extLst>
          </p:cNvPr>
          <p:cNvSpPr/>
          <p:nvPr/>
        </p:nvSpPr>
        <p:spPr>
          <a:xfrm>
            <a:off x="6959600" y="3733800"/>
            <a:ext cx="1498600" cy="355600"/>
          </a:xfrm>
          <a:prstGeom prst="roundRect">
            <a:avLst/>
          </a:prstGeom>
          <a:solidFill>
            <a:srgbClr val="0D948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2CBD6EA-76C2-47EF-82EB-C25A4DBC835A}"/>
              </a:ext>
            </a:extLst>
          </p:cNvPr>
          <p:cNvSpPr/>
          <p:nvPr/>
        </p:nvSpPr>
        <p:spPr>
          <a:xfrm>
            <a:off x="6959600" y="4318000"/>
            <a:ext cx="1498600" cy="355600"/>
          </a:xfrm>
          <a:prstGeom prst="roundRect">
            <a:avLst/>
          </a:prstGeom>
          <a:solidFill>
            <a:srgbClr val="0D948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959600" y="3746500"/>
            <a:ext cx="1498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15 min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9600" y="4330700"/>
            <a:ext cx="1498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rPr lang="en-US" sz="1600" b="1" dirty="0">
                <a:solidFill>
                  <a:srgbClr val="FFFFFF"/>
                </a:solidFill>
                <a:latin typeface="Arial"/>
              </a:rPr>
              <a:t>10 min saved</a:t>
            </a:r>
          </a:p>
        </p:txBody>
      </p:sp>
    </p:spTree>
    <p:extLst>
      <p:ext uri="{BB962C8B-B14F-4D97-AF65-F5344CB8AC3E}">
        <p14:creationId xmlns:p14="http://schemas.microsoft.com/office/powerpoint/2010/main" val="332320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7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3A5F"/>
                </a:solidFill>
                <a:latin typeface="Arial"/>
              </a:defRPr>
            </a:pPr>
            <a:r>
              <a:t>ROI: The Full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>
              <a:defRPr sz="1800" b="0" i="0">
                <a:solidFill>
                  <a:srgbClr val="64748B"/>
                </a:solidFill>
                <a:latin typeface="Arial"/>
              </a:defRPr>
            </a:pPr>
            <a:r>
              <a:rPr lang="en-US" sz="1800" dirty="0">
                <a:solidFill>
                  <a:srgbClr val="64748B"/>
                </a:solidFill>
                <a:latin typeface="Arial"/>
              </a:rPr>
              <a:t>2 hrs saved × 120K claims/yr × $50/hr = $12M in annual savings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7600"/>
            <a:ext cx="3840480" cy="1968500"/>
          </a:xfrm>
          <a:prstGeom prst="rect">
            <a:avLst/>
          </a:prstGeom>
          <a:solidFill>
            <a:srgbClr val="FFFF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44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Arial"/>
              </a:defRPr>
            </a:pPr>
            <a:r>
              <a:t>Projected Annual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562100"/>
            <a:ext cx="3683000" cy="762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defRPr sz="4800" b="1" i="0">
                <a:solidFill>
                  <a:srgbClr val="0D9488"/>
                </a:solidFill>
                <a:latin typeface="Arial"/>
              </a:defRPr>
            </a:pPr>
            <a:r>
              <a:t>$12,000,000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3800"/>
            <a:ext cx="3474720" cy="27432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 lang="en-US" sz="1400" dirty="0">
                <a:solidFill>
                  <a:srgbClr val="64748B"/>
                </a:solidFill>
                <a:latin typeface="Arial"/>
              </a:rPr>
              <a:t>per year at 10K claims/month × $50/hr adjuster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17600"/>
            <a:ext cx="393192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1244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What Gets Added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74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✓ AI Routing &amp;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74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0B981"/>
                </a:solidFill>
                <a:latin typeface="Arial"/>
              </a:defRPr>
            </a:pPr>
            <a:r>
              <a:t>15 min —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79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✓ Workflow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79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10B981"/>
                </a:solidFill>
                <a:latin typeface="Arial"/>
              </a:defRPr>
            </a:pPr>
            <a:r>
              <a:t>10 min —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84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Document Review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18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30 min —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89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Communication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48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25 min —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768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Investigation Assistance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68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40 min —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78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3A5F"/>
                </a:solidFill>
                <a:latin typeface="Arial"/>
              </a:defRPr>
            </a:pPr>
            <a:r>
              <a:t>Integration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33800"/>
            <a:ext cx="1920240" cy="431800"/>
          </a:xfrm>
          <a:prstGeom prst="rect">
            <a:avLst/>
          </a:prstGeom>
          <a:solidFill>
            <a:srgbClr val="E0F2FE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759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D9488"/>
                </a:solidFill>
                <a:latin typeface="Arial"/>
              </a:defRPr>
            </a:pPr>
            <a:r>
              <a:t>30-day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810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733800"/>
            <a:ext cx="1920240" cy="431800"/>
          </a:xfrm>
          <a:prstGeom prst="rect">
            <a:avLst/>
          </a:prstGeom>
          <a:solidFill>
            <a:srgbClr val="E0F2FE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3759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D9488"/>
                </a:solidFill>
                <a:latin typeface="Arial"/>
              </a:defRPr>
            </a:pPr>
            <a:r>
              <a:t>Prove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10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733800"/>
            <a:ext cx="192024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3759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Expand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10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733800"/>
            <a:ext cx="192024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0" y="3759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t>Full integration</a:t>
            </a:r>
          </a:p>
        </p:txBody>
      </p:sp>
    </p:spTree>
    <p:extLst>
      <p:ext uri="{BB962C8B-B14F-4D97-AF65-F5344CB8AC3E}">
        <p14:creationId xmlns:p14="http://schemas.microsoft.com/office/powerpoint/2010/main" val="1146069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7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3A5F"/>
                </a:solidFill>
                <a:latin typeface="Arial"/>
              </a:defRPr>
            </a:pPr>
            <a:r>
              <a:t>Strategic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6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A5F"/>
                </a:solidFill>
                <a:latin typeface="Arial"/>
              </a:defRPr>
            </a:pPr>
            <a:r>
              <a:t>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7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✓ Deterministic AI logic (no hallucinations)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8600"/>
            <a:ext cx="3840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✓ Role-based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9600"/>
            <a:ext cx="3840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rPr dirty="0"/>
              <a:t>✓ 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60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t>✓ Status tracking &amp;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1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t>✓ Batch CSV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22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F172A"/>
                </a:solidFill>
                <a:latin typeface="Arial"/>
              </a:defRPr>
            </a:pPr>
            <a:r>
              <a:t>✓ Dual ROI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736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A5F"/>
                </a:solidFill>
                <a:latin typeface="Arial"/>
              </a:defRPr>
            </a:pPr>
            <a:r>
              <a:t>Go-Forward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117600"/>
            <a:ext cx="384048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1168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3A5F"/>
                </a:solidFill>
                <a:latin typeface="Arial"/>
              </a:defRPr>
            </a:pPr>
            <a:r>
              <a:t>Claims System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3970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Guidewire, Duck Creek API connectors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803400"/>
            <a:ext cx="384048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18542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3A5F"/>
                </a:solidFill>
                <a:latin typeface="Arial"/>
              </a:defRPr>
            </a:pPr>
            <a:r>
              <a:t>Advanced Fraud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0828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Learn from adjuster decisions over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489200"/>
            <a:ext cx="384048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540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3A5F"/>
                </a:solidFill>
                <a:latin typeface="Arial"/>
              </a:defRPr>
            </a:pPr>
            <a:r>
              <a:t>Mobile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686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On-site processing with photo capture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175000"/>
            <a:ext cx="384048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3225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3A5F"/>
                </a:solidFill>
                <a:latin typeface="Arial"/>
              </a:defRPr>
            </a:pPr>
            <a:r>
              <a:t>Document 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4544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Extract data from photos, PDFs, 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94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0F172A"/>
                </a:solidFill>
                <a:latin typeface="Arial"/>
              </a:defRPr>
            </a:pPr>
            <a:r>
              <a:t>Every trade-off prioritized proving the AI works over production infrastructure.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89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1E3A5F"/>
                </a:solidFill>
                <a:latin typeface="Arial"/>
              </a:defRPr>
            </a:pPr>
            <a:r>
              <a:t>ClaimFlow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51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0D9488"/>
                </a:solidFill>
                <a:latin typeface="Arial"/>
              </a:defRPr>
            </a:pPr>
            <a:r>
              <a:t>Strategic scoping. Rapid validation. Business outcomes.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222500"/>
            <a:ext cx="3657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6035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4748B"/>
                </a:solidFill>
                <a:latin typeface="Arial"/>
              </a:defRPr>
            </a:pPr>
            <a:r>
              <a:t>Demo: [LIVE LINK]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48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4748B"/>
                </a:solidFill>
                <a:latin typeface="Arial"/>
              </a:defRPr>
            </a:pPr>
            <a:r>
              <a:t>GitHub: github.com/mjgard47/tenex-insurance-claims-triage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556000"/>
            <a:ext cx="3657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4013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1E3A5F"/>
                </a:solidFill>
                <a:latin typeface="Arial"/>
              </a:defRPr>
            </a:pPr>
            <a:r>
              <a:t>Thanks for watching. I'd love to build the future of work with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2DEE32-1614-4AAD-A508-236385DF7083}">
  <we:reference id="wa200010001" version="1.0.0.0" store="en-US" storeType="OMEX"/>
  <we:alternateReferences>
    <we:reference id="WA200010001" version="1.0.0.0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1795</Words>
  <Application>Microsoft Office PowerPoint</Application>
  <PresentationFormat>On-screen Show (16:9)</PresentationFormat>
  <Paragraphs>218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Gardner</cp:lastModifiedBy>
  <cp:revision>2</cp:revision>
  <dcterms:created xsi:type="dcterms:W3CDTF">2013-01-27T09:14:16Z</dcterms:created>
  <dcterms:modified xsi:type="dcterms:W3CDTF">2026-03-26T19:46:51Z</dcterms:modified>
  <cp:category/>
</cp:coreProperties>
</file>