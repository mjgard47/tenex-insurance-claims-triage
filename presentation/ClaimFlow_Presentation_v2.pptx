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Arial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0D9488"/>
                </a:solidFill>
                <a:latin typeface="Arial"/>
              </a:defRPr>
            </a:pPr>
            <a:r>
              <a:t>AI-Powered Insurance Claims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560320"/>
            <a:ext cx="4572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Michael Gardner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E2E8F0"/>
                </a:solidFill>
                <a:latin typeface="Arial"/>
              </a:defRPr>
            </a:pPr>
            <a:r>
              <a:t>Tenex AI Strategist — Build First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2E8F0"/>
                </a:solidFill>
                <a:latin typeface="Arial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E3A5F"/>
                </a:solidFill>
                <a:latin typeface="Arial"/>
              </a:defRPr>
            </a:pPr>
            <a:r>
              <a:t>The Problem: Manual Triage Slows Everything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Typical mid-size insurer: 10,000 claims/month  •  15 adjusters  •  Each handles 650+ claims/year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A5F"/>
                </a:solidFill>
                <a:latin typeface="Arial"/>
              </a:defRPr>
            </a:pPr>
            <a:r>
              <a:t>Current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1. Claim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15 min — Policyholder fills 22-field intake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67128"/>
            <a:ext cx="5029200" cy="4572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2. Manual Routing &amp;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15 min — Adjuster reads, decides queue; Manager assigns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70048"/>
            <a:ext cx="5029200" cy="45720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3. Manual Workflow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10 min — Re-reads form, checks prior claims, fraud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4. 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2 hours — Actual claim review and decision-making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5. Decision Made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Approved, denied, or escalated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1945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DC2626"/>
                </a:solidFill>
                <a:latin typeface="Arial"/>
              </a:defRPr>
            </a:pPr>
            <a:r>
              <a:t>$1.8M/yr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$1.2M/yr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600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Before investigation begins, adjusters spend 25 min per claim on triage, assignment, and workflow setup.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The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468880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514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0F172A"/>
                </a:solidFill>
                <a:latin typeface="Arial"/>
              </a:defRPr>
            </a:pPr>
            <a:r>
              <a:t>10,000 claims/month</a:t>
            </a:r>
          </a:p>
          <a:p>
            <a:pPr>
              <a:spcAft>
                <a:spcPts val="200"/>
              </a:spcAft>
              <a:defRPr sz="1200" b="0">
                <a:solidFill>
                  <a:srgbClr val="0F172A"/>
                </a:solidFill>
                <a:latin typeface="Arial"/>
              </a:defRPr>
            </a:pPr>
            <a:r>
              <a:t>× 25 minutes saved</a:t>
            </a:r>
          </a:p>
          <a:p>
            <a:pPr>
              <a:spcAft>
                <a:spcPts val="200"/>
              </a:spcAft>
              <a:defRPr sz="1200" b="0">
                <a:solidFill>
                  <a:srgbClr val="0F172A"/>
                </a:solidFill>
                <a:latin typeface="Arial"/>
              </a:defRPr>
            </a:pPr>
            <a:r>
              <a:t>× $60/hour adjuster cost</a:t>
            </a:r>
          </a:p>
          <a:p>
            <a:pPr>
              <a:spcAft>
                <a:spcPts val="200"/>
              </a:spcAft>
              <a:defRPr sz="1200" b="0">
                <a:solidFill>
                  <a:srgbClr val="0F172A"/>
                </a:solidFill>
                <a:latin typeface="Arial"/>
              </a:defRPr>
            </a:pPr>
            <a:r>
              <a:t>× 12 months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────────────────────</a:t>
            </a:r>
          </a:p>
          <a:p>
            <a:pPr>
              <a:spcAft>
                <a:spcPts val="2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= $3,000,000/year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Two Value Propositions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794760"/>
            <a:ext cx="3108960" cy="274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8130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Efficiency: Same volume, 20% fewer adjusters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096512"/>
            <a:ext cx="3108960" cy="2743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4114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  <a:latin typeface="Arial"/>
              </a:defRPr>
            </a:pPr>
            <a:r>
              <a:t>Growth: Scale to 15K claims without hiring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4988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3A5F"/>
                </a:solidFill>
                <a:latin typeface="Arial"/>
              </a:defRPr>
            </a:pPr>
            <a:r>
              <a:t>Target Market: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8172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Mid-size auto insurers (10K–50K claims/mo)  |  Collision claims &lt;$10K (60% of volume, lowest regulatory risk)  |  $50M–$500M revenue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E3A5F"/>
                </a:solidFill>
                <a:latin typeface="Arial"/>
              </a:defRPr>
            </a:pPr>
            <a:r>
              <a:t>Why I Chose This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F172A"/>
                </a:solidFill>
                <a:latin typeface="Arial"/>
              </a:defRPr>
            </a:pPr>
            <a:r>
              <a:t>🚗  I got in a fender bender a couple years ago — the insurance process was a mess. I wanted to fix the low-hanging fruit: the 25 minutes of manual work before investigation even begins.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Specific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One workflow step,</a:t>
            </a:r>
            <a:br/>
            <a:r>
              <a:t>measurable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Solvable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Deterministic logic,</a:t>
            </a:r>
            <a:br/>
            <a:r>
              <a:t>no hallucination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$3M → $12M</a:t>
            </a:r>
            <a:br/>
            <a:r>
              <a:t>ROI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8229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A5F"/>
                </a:solidFill>
                <a:latin typeface="Arial"/>
              </a:defRPr>
            </a:pPr>
            <a:r>
              <a:t>How ClaimFlow Triages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Arial"/>
              </a:defRPr>
            </a:pPr>
            <a:r>
              <a:t>Fast-Track Queue: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8346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&lt;$5K damage, other party fault, police report filed, ≤1 prior claims, no fraud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Standard Review: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2461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$5K–$15K OR policyholder fault OR no police report, ≤3 prior claims, no escalation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C2626"/>
                </a:solidFill>
                <a:latin typeface="Arial"/>
              </a:defRPr>
            </a:pPr>
            <a:r>
              <a:t>Senior Review: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6576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&gt;$15K OR 2+ fraud signals OR &gt;3 prior claims OR damage exceeds coverage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0D9488"/>
                </a:solidFill>
                <a:latin typeface="Arial"/>
              </a:defRPr>
            </a:pPr>
            <a:r>
              <a:t>ClaimFlow speeds up human decision-making — it doesn’t replace it. AI triages and recommends. Humans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E3A5F"/>
                </a:solidFill>
                <a:latin typeface="Arial"/>
              </a:defRPr>
            </a:pPr>
            <a:r>
              <a:t>How ClaimFlow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40080"/>
            <a:ext cx="7132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1. Claim 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Policyholder fills 22-field intake form with vehicle, damage, fault, police report, prior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22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9844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8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7132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2. AI Routing &amp;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AI reads all 22 fields, applies triage rubric, routes to correct queue, assigns to least-busy adjuster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554480"/>
            <a:ext cx="10058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581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10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07568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7132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67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3. Adjuster Sees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Claim appears in queue with AI recommendation badge, confidence score, fraud signal count, estimated payout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77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Instant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5292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508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971800"/>
            <a:ext cx="7132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44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4. Adjuster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Opens modal: AI reasoning, decision factors, all data pre-populated — no need to re-read intake 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108960"/>
            <a:ext cx="1005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1363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10 min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63016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49040"/>
            <a:ext cx="7132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8221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5. Adjuster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0690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One-click approve, deny (with structured codes), or escalate (with notes). Logged in audit 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931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5 min saved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994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Time Saved: 25 minutes per claim (15 min routing + 10 min workflow enhancement)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E3A5F"/>
                </a:solidFill>
                <a:latin typeface="Arial"/>
              </a:defRPr>
            </a:pPr>
            <a:r>
              <a:t>The ROI: $3M Today, $12M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Current State (What’s 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What ClaimFlow Automates: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✓ AI Routing &amp; Assignment (15 min)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✓ Workflow Enhancement (10 min)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Total: 25 minutes saved per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02336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10,000 claims/month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× 25 minutes saved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× $60/hour adjuster cost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× 12 months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= $3,000,000/year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Value Delivery: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4023360" cy="2286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6440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✓ Same volume, 20% fewer adjusters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02152"/>
            <a:ext cx="4023360" cy="2286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  <a:latin typeface="Arial"/>
              </a:defRPr>
            </a:pPr>
            <a:r>
              <a:t>✓ Scale to 15K claims without hiring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0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D9488"/>
                </a:solidFill>
                <a:latin typeface="Arial"/>
              </a:defRPr>
            </a:pPr>
            <a:r>
              <a:t>Future State (Full Automation)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9601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What Full Integration Adds: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1887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10B981"/>
                </a:solidFill>
                <a:latin typeface="Arial"/>
              </a:defRPr>
            </a:pPr>
            <a:r>
              <a:t>✓ AI Routing &amp; Assignment (15 min) — built</a:t>
            </a:r>
          </a:p>
          <a:p>
            <a:pPr>
              <a:spcAft>
                <a:spcPts val="200"/>
              </a:spcAft>
              <a:defRPr sz="1200" b="0">
                <a:solidFill>
                  <a:srgbClr val="10B981"/>
                </a:solidFill>
                <a:latin typeface="Arial"/>
              </a:defRPr>
            </a:pPr>
            <a:r>
              <a:t>✓ Workflow Enhancement (10 min) — built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🔮 Document Review (30 min) — roadmap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🔮 Communication Automation (25 min) — roadmap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🔮 Investigation Assistance (40 min) — roadmap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Total: 2 hours saved per claim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4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10,000 claims/month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× 1.67 hours saved (conservative)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× $60/hour adjuster cost</a:t>
            </a:r>
          </a:p>
          <a:p>
            <a:pPr>
              <a:spcAft>
                <a:spcPts val="200"/>
              </a:spcAft>
              <a:defRPr sz="1300" b="0">
                <a:solidFill>
                  <a:srgbClr val="0F172A"/>
                </a:solidFill>
                <a:latin typeface="Arial"/>
              </a:defRPr>
            </a:pPr>
            <a:r>
              <a:t>× 12 months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= $12,000,000/year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2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Integration Path: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657600"/>
            <a:ext cx="4023360" cy="2286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675887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Arial"/>
              </a:defRPr>
            </a:pPr>
            <a:r>
              <a:t>30-day pilot → Prove accuracy → Expand 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3A5F"/>
                </a:solidFill>
                <a:latin typeface="Arial"/>
              </a:defRPr>
            </a:pPr>
            <a:r>
              <a:t>Key Assumptions: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Claim volume: 10,000/month  |  Adjuster cost: $60/hr fully loaded  |  Time saved: 15 min (routing) + 10 min (workflow) = 25 min</a:t>
            </a:r>
            <a:br/>
            <a:r>
              <a:t>Conservative future estimate: 1.67 hrs accounts for complexity variance and edge cases requiring manual review</a:t>
            </a:r>
            <a:br/>
            <a:r>
              <a:t>ROI does not include fraud prevention savings, reduced reassignment costs, or improved customer satisfaction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E3A5F"/>
                </a:solidFill>
                <a:latin typeface="Arial"/>
              </a:defRPr>
            </a:pPr>
            <a:r>
              <a:t>Strategic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t>Tech Stack (What I 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✓ Deterministic AI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61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No LLMs, no hallucinations — every decision</a:t>
            </a:r>
            <a:br/>
            <a:r>
              <a:t>cites exact field values for regulatory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✓ SQLite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Fast prototyping, swappable to Postgres</a:t>
            </a:r>
            <a:br/>
            <a:r>
              <a:t>in 2 hours for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✓ React +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328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Role-based UX, 7 user profiles</a:t>
            </a:r>
            <a:br/>
            <a:r>
              <a:t>(Admin + 6 adjusters) with optimized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✓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186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4 automated signals with visual prominence</a:t>
            </a:r>
            <a:br/>
            <a:r>
              <a:t>(red borders, fraud-first sorting)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✓ Dual ROI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Current ($3M) + future ($12M) with</a:t>
            </a:r>
            <a:br/>
            <a:r>
              <a:t>transparent assumptions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640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t>Go-Forward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960120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005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t>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005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Multi-Claim Batch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234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Upload 100+ claims via CSV, bulk triage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61848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6642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6642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Claims Management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8928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API connectors to Guidewire, Duck Creek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276856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3225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3225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Advanced Fraud ML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5511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Learn from adjuster decisions over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935224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980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9809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Mobile App for Field Adjusters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2095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On-site processing with photo capture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593592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639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t>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6393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A5F"/>
                </a:solidFill>
                <a:latin typeface="Arial"/>
              </a:defRPr>
            </a:pPr>
            <a:r>
              <a:t>Document OCR &amp; Parsing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867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Extract data from photos, PDFs, forms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0F172A"/>
                </a:solidFill>
                <a:latin typeface="Arial"/>
              </a:defRPr>
            </a:pPr>
            <a:r>
              <a:t>This demo proves the core value: AI can triage accurately and speed up workflows. Production infrastructure is table stakes.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E3A5F"/>
                </a:solidFill>
                <a:latin typeface="Arial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0D9488"/>
                </a:solidFill>
                <a:latin typeface="Arial"/>
              </a:defRPr>
            </a:pPr>
            <a:r>
              <a:t>Strategic scoping. Rapid validation. Business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286000"/>
            <a:ext cx="3657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4748B"/>
                </a:solidFill>
                <a:latin typeface="Arial"/>
              </a:defRPr>
            </a:pPr>
            <a:r>
              <a:t>Demo: [LIVE LINK]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748B"/>
                </a:solidFill>
                <a:latin typeface="Arial"/>
              </a:defRPr>
            </a:pPr>
            <a:r>
              <a:t>GitHub: github.com/mjgard47/tenex-insurance-claims-triage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291840"/>
            <a:ext cx="3657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1E3A5F"/>
                </a:solidFill>
                <a:latin typeface="Arial"/>
              </a:defRPr>
            </a:pPr>
            <a:r>
              <a:t>Thanks for watching. I’d love to build the future of work with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